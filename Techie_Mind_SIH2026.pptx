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e_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2011680"/>
            <a:ext cx="530352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 bIns="320040"/>
          <a:lstStyle/>
          <a:p>
            <a:pPr algn="ctr">
              <a:spcBef>
                <a:spcPts val="200"/>
              </a:spcBef>
              <a:spcAft>
                <a:spcPts val="600"/>
              </a:spcAft>
            </a:pPr>
            <a:r>
              <a:rPr b="1" sz="1100">
                <a:solidFill>
                  <a:srgbClr val="0070C0"/>
                </a:solidFill>
                <a:latin typeface="Helvetica"/>
              </a:rPr>
              <a:t>PROBLEM STATEMENT ID
</a:t>
            </a:r>
            <a:r>
              <a:rPr b="1" sz="1350">
                <a:solidFill>
                  <a:srgbClr val="1E293B"/>
                </a:solidFill>
                <a:latin typeface="Helvetica"/>
              </a:rPr>
              <a:t>SIH26171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b="1" sz="1100">
                <a:solidFill>
                  <a:srgbClr val="0070C0"/>
                </a:solidFill>
                <a:latin typeface="Helvetica"/>
              </a:rPr>
              <a:t>PROBLEM STATEMENT TITLE
</a:t>
            </a:r>
            <a:r>
              <a:rPr b="1" sz="1350">
                <a:solidFill>
                  <a:srgbClr val="1E293B"/>
                </a:solidFill>
                <a:latin typeface="Helvetica"/>
              </a:rPr>
              <a:t>On-device Visual Perception for Light-weight Browser Agents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b="1" sz="1100">
                <a:solidFill>
                  <a:srgbClr val="0070C0"/>
                </a:solidFill>
                <a:latin typeface="Helvetica"/>
              </a:rPr>
              <a:t>THEME &amp; CATEGORY
</a:t>
            </a:r>
            <a:r>
              <a:rPr b="1" sz="1350">
                <a:solidFill>
                  <a:srgbClr val="1E293B"/>
                </a:solidFill>
                <a:latin typeface="Helvetica"/>
              </a:rPr>
              <a:t>Smart Automation  |  Software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b="1" sz="1100">
                <a:solidFill>
                  <a:srgbClr val="0070C0"/>
                </a:solidFill>
                <a:latin typeface="Helvetica"/>
              </a:rPr>
              <a:t>SUBMITTING ORGANIZATION
</a:t>
            </a:r>
            <a:r>
              <a:rPr b="1" sz="1350">
                <a:solidFill>
                  <a:srgbClr val="1E293B"/>
                </a:solidFill>
                <a:latin typeface="Helvetica"/>
              </a:rPr>
              <a:t>ISRO / Department of Space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b="1" sz="1100">
                <a:solidFill>
                  <a:srgbClr val="0070C0"/>
                </a:solidFill>
                <a:latin typeface="Helvetica"/>
              </a:rPr>
              <a:t>TEAM DETAILS
</a:t>
            </a:r>
            <a:r>
              <a:rPr b="1" sz="1350">
                <a:solidFill>
                  <a:srgbClr val="1E293B"/>
                </a:solidFill>
                <a:latin typeface="Helvetica"/>
              </a:rPr>
              <a:t>Team ID: 169984  |  Team Name: Techy Guys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e_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11556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0070C0"/>
                </a:solidFill>
              </a:defRPr>
            </a:pPr>
            <a:r>
              <a:t>PROPOSED SOLUTION: On-Device Autonomous Browser Agent with Zero-Cloud Privacy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5486400" cy="46634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700"/>
              </a:spcAft>
            </a:pPr>
            <a:r>
              <a:rPr b="1" sz="1150">
                <a:solidFill>
                  <a:srgbClr val="1E293B"/>
                </a:solidFill>
                <a:latin typeface="Helvetica"/>
              </a:rPr>
              <a:t>• Techie Mind Overview: </a:t>
            </a:r>
            <a:r>
              <a:rPr b="0" sz="1100">
                <a:solidFill>
                  <a:srgbClr val="64748B"/>
                </a:solidFill>
                <a:latin typeface="Helvetica"/>
              </a:rPr>
              <a:t>Autonomous browser agent running directly inside Chrome/Firefox without cloud dependencies or per-query API bills.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1E293B"/>
                </a:solidFill>
                <a:latin typeface="Helvetica"/>
              </a:rPr>
              <a:t>• 4-Level Local Perception Stack: </a:t>
            </a:r>
            <a:r>
              <a:rPr b="0" sz="1100">
                <a:solidFill>
                  <a:srgbClr val="64748B"/>
                </a:solidFill>
                <a:latin typeface="Helvetica"/>
              </a:rPr>
              <a:t>Hierarchical cascade: DOM Observer → Accessibility Tree → Semantic Grounding → Local Florence-2 VLM (runs via WebGPU only when needed).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1E293B"/>
                </a:solidFill>
                <a:latin typeface="Helvetica"/>
              </a:rPr>
              <a:t>• Local Privacy &amp; Redaction Engine: </a:t>
            </a:r>
            <a:r>
              <a:rPr b="0" sz="1100">
                <a:solidFill>
                  <a:srgbClr val="64748B"/>
                </a:solidFill>
                <a:latin typeface="Helvetica"/>
              </a:rPr>
              <a:t>Detects &amp; redacts Aadhaar, PAN, phone, passwords, and credit cards in memory. Raw sensitive data NEVER leaves user's computer.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1E293B"/>
                </a:solidFill>
                <a:latin typeface="Helvetica"/>
              </a:rPr>
              <a:t>• Action Firewall Architecture: </a:t>
            </a:r>
            <a:r>
              <a:rPr b="0" sz="1100">
                <a:solidFill>
                  <a:srgbClr val="64748B"/>
                </a:solidFill>
                <a:latin typeface="Helvetica"/>
              </a:rPr>
              <a:t>Separates AI reasoning from execution authority. Model only proposes; local engine verifies schema, page state, and safety constraints.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1E293B"/>
                </a:solidFill>
                <a:latin typeface="Helvetica"/>
              </a:rPr>
              <a:t>• Human Handover Protocol: </a:t>
            </a:r>
            <a:r>
              <a:rPr b="0" sz="1100">
                <a:solidFill>
                  <a:srgbClr val="64748B"/>
                </a:solidFill>
                <a:latin typeface="Helvetica"/>
              </a:rPr>
              <a:t>Payments, OTPs, and CAPTCHAs strictly paused for user control — preventing unauthorized transactions.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1E293B"/>
                </a:solidFill>
                <a:latin typeface="Helvetica"/>
              </a:rPr>
              <a:t>• Vernacular Multi-Lingual Support: </a:t>
            </a:r>
            <a:r>
              <a:rPr b="0" sz="1100">
                <a:solidFill>
                  <a:srgbClr val="64748B"/>
                </a:solidFill>
                <a:latin typeface="Helvetica"/>
              </a:rPr>
              <a:t>Understands commands in English, Hindi, Kannada, Tamil, Telugu, and Hinglish via text and voice.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1E293B"/>
                </a:solidFill>
                <a:latin typeface="Helvetica"/>
              </a:rPr>
              <a:t>• 20–50x Faster than Cloud VLMs: </a:t>
            </a:r>
            <a:r>
              <a:rPr b="0" sz="1100">
                <a:solidFill>
                  <a:srgbClr val="64748B"/>
                </a:solidFill>
                <a:latin typeface="Helvetica"/>
              </a:rPr>
              <a:t>Typical task execution completes in ~2.7s (vs 30–60s on cloud VLM screenshot loops).</a:t>
            </a:r>
          </a:p>
        </p:txBody>
      </p:sp>
      <p:pic>
        <p:nvPicPr>
          <p:cNvPr id="5" name="Picture 4" descr="comparison_infographic_179059481625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00200"/>
            <a:ext cx="52120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e_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11556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0070C0"/>
                </a:solidFill>
              </a:defRPr>
            </a:pPr>
            <a:r>
              <a:t>METHODOLOGY &amp; ARCHITECTURE: 6-Step Deterministic-First Agent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6583680" cy="46634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1E293B"/>
                </a:solidFill>
                <a:latin typeface="Helvetica"/>
              </a:rPr>
              <a:t>• Step 1 — Intent Resolution: </a:t>
            </a:r>
            <a:r>
              <a:rPr sz="1050">
                <a:solidFill>
                  <a:srgbClr val="64748B"/>
                </a:solidFill>
                <a:latin typeface="Helvetica"/>
              </a:rPr>
              <a:t>Deterministic parsing extracts action and parameters in 5.3 ms with 0 AI model calls.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E293B"/>
                </a:solidFill>
                <a:latin typeface="Helvetica"/>
              </a:rPr>
              <a:t>• Step 2 — Direct Navigation: </a:t>
            </a:r>
            <a:r>
              <a:rPr sz="1050">
                <a:solidFill>
                  <a:srgbClr val="64748B"/>
                </a:solidFill>
                <a:latin typeface="Helvetica"/>
              </a:rPr>
              <a:t>Navigates directly to target domains without searching via Google, saving 2-3 round-trips.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E293B"/>
                </a:solidFill>
                <a:latin typeface="Helvetica"/>
              </a:rPr>
              <a:t>• Step 3 — Local Perception Cascade: </a:t>
            </a:r>
            <a:r>
              <a:rPr sz="1050">
                <a:solidFill>
                  <a:srgbClr val="64748B"/>
                </a:solidFill>
                <a:latin typeface="Helvetica"/>
              </a:rPr>
              <a:t>Extracts interactive DOM + A11y tree first; invokes Florence-2 ONNX VLM via WebGPU only if visual ambiguity exists.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E293B"/>
                </a:solidFill>
                <a:latin typeface="Helvetica"/>
              </a:rPr>
              <a:t>• Step 4 — Hardware-Boundary Privacy: </a:t>
            </a:r>
            <a:r>
              <a:rPr sz="1050">
                <a:solidFill>
                  <a:srgbClr val="64748B"/>
                </a:solidFill>
                <a:latin typeface="Helvetica"/>
              </a:rPr>
              <a:t>PII detector redacts credentials &amp; sensitive tokens into a secure, TTL-limited in-memory vault.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E293B"/>
                </a:solidFill>
                <a:latin typeface="Helvetica"/>
              </a:rPr>
              <a:t>• Step 5 — Action Firewall Validation: </a:t>
            </a:r>
            <a:r>
              <a:rPr sz="1050">
                <a:solidFill>
                  <a:srgbClr val="64748B"/>
                </a:solidFill>
                <a:latin typeface="Helvetica"/>
              </a:rPr>
              <a:t>Validates proposed action against Zod runtime schema, target binding, and risk classification rules.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E293B"/>
                </a:solidFill>
                <a:latin typeface="Helvetica"/>
              </a:rPr>
              <a:t>• Step 6 — Execution &amp; Verification: </a:t>
            </a:r>
            <a:r>
              <a:rPr sz="1050">
                <a:solidFill>
                  <a:srgbClr val="64748B"/>
                </a:solidFill>
                <a:latin typeface="Helvetica"/>
              </a:rPr>
              <a:t>Dispatches synthetic events, inspects post-action DOM state, and engages a 6-level recovery ladder upon failure.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4297680"/>
          <a:ext cx="65836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</a:tblGrid>
              <a:tr h="43434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Runtime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Perception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Reasoning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Validation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Chrome MV3 / Firefox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DOM + A11y Tree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Deterministic Code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Zod Schemas (Runtime)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TypeScript Strict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Florence-2 (WebGPU)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Laya MLX (Local)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Playwright Chromium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Preact (~3KB UI)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WAI-ARIA Grounding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Qwen 2.5:7B (Ollama)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Vitest Unit Test Suite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architecture_flowchart_17905948048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508760"/>
            <a:ext cx="402336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e_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11556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0070C0"/>
                </a:solidFill>
              </a:defRPr>
            </a:pPr>
            <a:r>
              <a:t>FEASIBILITY &amp; EMPIRICAL BENCHMARKS: Verified Live on Real Chromium (YouTube &amp; Flipkart)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5394960" cy="46634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200">
                <a:solidFill>
                  <a:srgbClr val="0070C0"/>
                </a:solidFill>
              </a:defRPr>
            </a:pPr>
            <a:r>
              <a:t>Implementation &amp; Testing Rigor: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E293B"/>
                </a:solidFill>
              </a:rPr>
              <a:t>✓  Phase 0 (Foundation) &amp; Phase 1 (Agent Core) 100% COMPLETE &amp; PASSING.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E293B"/>
                </a:solidFill>
              </a:rPr>
              <a:t>✓  189 Unit Tests + 21 Real-Chromium Browser Tests + 9 Live-Site Tests.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E293B"/>
                </a:solidFill>
              </a:rPr>
              <a:t>✓  Tested live on YouTube (Kannada/English search) and Flipkart (Product search).</a:t>
            </a:r>
          </a:p>
          <a:p>
            <a:pPr>
              <a:spcBef>
                <a:spcPts val="800"/>
              </a:spcBef>
              <a:defRPr b="1" sz="1200">
                <a:solidFill>
                  <a:srgbClr val="0070C0"/>
                </a:solidFill>
              </a:defRPr>
            </a:pPr>
            <a:r>
              <a:t>Measured Live Execution Benchmarks (Real Data):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926080"/>
          <a:ext cx="53035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1828800"/>
              </a:tblGrid>
              <a:tr h="2514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Pipeline Stage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Median Latency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Intent Resolution (NL → Structured)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5.3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Navigation &amp; Page Readiness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1,533.0 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DOM &amp; Accessibility Observation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38.0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Semantic Element Grounding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0.4 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Action Dispatch &amp; Execution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10.8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Post-Action State Verification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1.9 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6A34A"/>
                          </a:solidFill>
                        </a:defRPr>
                      </a:pPr>
                      <a:r>
                        <a:t>TOTAL END-TO-END (0 Model Calls)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6A34A"/>
                          </a:solidFill>
                        </a:defRPr>
                      </a:pPr>
                      <a:r>
                        <a:t>~2,731 ms (2.7s)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02920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i="1">
                <a:solidFill>
                  <a:srgbClr val="64748B"/>
                </a:solidFill>
              </a:defRPr>
            </a:pPr>
            <a:r>
              <a:t>Key Mitigations: WebGPU unsupported devices fall back seamlessly to WebAssembly; dynamic websites handled by semantic grounding without brittle selectors.</a:t>
            </a:r>
          </a:p>
        </p:txBody>
      </p:sp>
      <p:pic>
        <p:nvPicPr>
          <p:cNvPr id="7" name="Picture 6" descr="slide4_benchmark_composit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08760"/>
            <a:ext cx="53949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e_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11556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0070C0"/>
                </a:solidFill>
              </a:defRPr>
            </a:pPr>
            <a:r>
              <a:t>IMPACT &amp; BENEFITS: Digital Inclusion, Data Sovereignty, and Multi-Dimensional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5577840" cy="46634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200">
                <a:solidFill>
                  <a:srgbClr val="0070C0"/>
                </a:solidFill>
              </a:defRPr>
            </a:pPr>
            <a:r>
              <a:t>Target Audience &amp; Societal Impact: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1E293B"/>
                </a:solidFill>
              </a:rPr>
              <a:t>• Differently-Abled Users: </a:t>
            </a:r>
            <a:r>
              <a:rPr sz="1050">
                <a:solidFill>
                  <a:srgbClr val="64748B"/>
                </a:solidFill>
              </a:rPr>
              <a:t>Hands-free web browsing via voice commands combined with Accessibility Tree perception.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1E293B"/>
                </a:solidFill>
              </a:rPr>
              <a:t>• Vernacular Indian Users: </a:t>
            </a:r>
            <a:r>
              <a:rPr sz="1050">
                <a:solidFill>
                  <a:srgbClr val="64748B"/>
                </a:solidFill>
              </a:rPr>
              <a:t>Voice &amp; text navigation in 6+ Indian languages removes digital literacy barriers.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1E293B"/>
                </a:solidFill>
              </a:rPr>
              <a:t>• National Data Sovereignty: </a:t>
            </a:r>
            <a:r>
              <a:rPr sz="1050">
                <a:solidFill>
                  <a:srgbClr val="64748B"/>
                </a:solidFill>
              </a:rPr>
              <a:t>Zero-cloud processing guarantees sensitive data never leaves Indian borders.</a:t>
            </a:r>
          </a:p>
          <a:p>
            <a:pPr>
              <a:spcBef>
                <a:spcPts val="800"/>
              </a:spcBef>
              <a:defRPr b="1" sz="1200">
                <a:solidFill>
                  <a:srgbClr val="0070C0"/>
                </a:solidFill>
              </a:defRPr>
            </a:pPr>
            <a:r>
              <a:t>Comprehensive Value Dimensions: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3291840"/>
          <a:ext cx="54864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840480"/>
              </a:tblGrid>
              <a:tr h="4267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Strategic Benefit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🔒 Privacy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Hardware-enforced redaction prevents Aadhaar &amp; financial leaks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💰 Economic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Zero per-query cost (cloud VLM agents cost $0.01-$0.03/step)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⚡ Performance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20-50x faster execution (~2.7s vs 30-60s on cloud agents)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🌱 Environmental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No power-hungry cloud GPU roundtrips, lowering carbon emissions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🇮🇳 Strategic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</a:defRPr>
                      </a:pPr>
                      <a:r>
                        <a:t>Demonstrates cutting-edge on-device AI developed for Indian users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privacy_boundary_diagram_179061046367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600200"/>
            <a:ext cx="512064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e_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11556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0070C0"/>
                </a:solidFill>
              </a:defRPr>
            </a:pPr>
            <a:r>
              <a:t>TECHNOLOGY STACK: 12 Open-Source, Production-Grade Technologies Across Runtime, AI &amp; Testing</a:t>
            </a:r>
          </a:p>
        </p:txBody>
      </p:sp>
      <p:pic>
        <p:nvPicPr>
          <p:cNvPr id="4" name="Picture 3" descr="tech_stack_grid_1790610495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600200"/>
            <a:ext cx="10362895" cy="4297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897880"/>
            <a:ext cx="103628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64748B"/>
                </a:solidFill>
              </a:defRPr>
            </a:pPr>
            <a:r>
              <a:t>100% On-Device Execution: All perception models and reasoning pipelines run locally without sending page context to cloud servers.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e_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11556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0070C0"/>
                </a:solidFill>
              </a:defRPr>
            </a:pPr>
            <a:r>
              <a:t>RESEARCH &amp; REFERENCES: Grounded in State-of-the-Art Vision-Language &amp; Web Standards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5760720" cy="46634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</a:pPr>
            <a:r>
              <a:rPr b="1" sz="950">
                <a:solidFill>
                  <a:srgbClr val="1E293B"/>
                </a:solidFill>
              </a:rPr>
              <a:t>1. SIH Problem Statement SIH26171: </a:t>
            </a:r>
            <a:r>
              <a:rPr sz="950">
                <a:solidFill>
                  <a:srgbClr val="64748B"/>
                </a:solidFill>
              </a:rPr>
              <a:t>On-device Visual Perception for Light-weight Browser Agents (ISRO / Dept. of Space)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1E293B"/>
                </a:solidFill>
              </a:rPr>
              <a:t>2. Microsoft Research (2023): </a:t>
            </a:r>
            <a:r>
              <a:rPr sz="950">
                <a:solidFill>
                  <a:srgbClr val="64748B"/>
                </a:solidFill>
              </a:rPr>
              <a:t>Florence-2: Advancing a Unified Representation for a Variety of Vision Tasks (arXiv:2311.06242)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1E293B"/>
                </a:solidFill>
              </a:rPr>
              <a:t>3. Hugging Face Transformers.js: </a:t>
            </a:r>
            <a:r>
              <a:rPr sz="950">
                <a:solidFill>
                  <a:srgbClr val="64748B"/>
                </a:solidFill>
              </a:rPr>
              <a:t>State-of-the-art machine learning in the browser via ONNX Web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1E293B"/>
                </a:solidFill>
              </a:rPr>
              <a:t>4. W3C WebGPU Specification: </a:t>
            </a:r>
            <a:r>
              <a:rPr sz="950">
                <a:solidFill>
                  <a:srgbClr val="64748B"/>
                </a:solidFill>
              </a:rPr>
              <a:t>Next-generation browser acceleration standard for on-device ML compute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1E293B"/>
                </a:solidFill>
              </a:rPr>
              <a:t>5. Alibaba Cloud Qwen 2.5: </a:t>
            </a:r>
            <a:r>
              <a:rPr sz="950">
                <a:solidFill>
                  <a:srgbClr val="64748B"/>
                </a:solidFill>
              </a:rPr>
              <a:t>Open-weight foundational language models for lightweight reasoning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1E293B"/>
                </a:solidFill>
              </a:rPr>
              <a:t>6. Apple Machine Learning: </a:t>
            </a:r>
            <a:r>
              <a:rPr sz="950">
                <a:solidFill>
                  <a:srgbClr val="64748B"/>
                </a:solidFill>
              </a:rPr>
              <a:t>MLX framework for efficient local model inference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1E293B"/>
                </a:solidFill>
              </a:rPr>
              <a:t>7. Google Chrome Extensions MV3: </a:t>
            </a:r>
            <a:r>
              <a:rPr sz="950">
                <a:solidFill>
                  <a:srgbClr val="64748B"/>
                </a:solidFill>
              </a:rPr>
              <a:t>Manifest V3 architecture, service workers, and native sidepanel APIs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1E293B"/>
                </a:solidFill>
              </a:rPr>
              <a:t>8. W3C Accessible Name &amp; Description (AccName 1.2): </a:t>
            </a:r>
            <a:r>
              <a:rPr sz="950">
                <a:solidFill>
                  <a:srgbClr val="64748B"/>
                </a:solidFill>
              </a:rPr>
              <a:t>Accessible tree computation for semantic browser interaction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1E293B"/>
                </a:solidFill>
              </a:rPr>
              <a:t>9. Zod Runtime Schema Validation: </a:t>
            </a:r>
            <a:r>
              <a:rPr sz="950">
                <a:solidFill>
                  <a:srgbClr val="64748B"/>
                </a:solidFill>
              </a:rPr>
              <a:t>Type-safe runtime contracts and schema boundaries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1E293B"/>
                </a:solidFill>
              </a:rPr>
              <a:t>10. Microsoft Playwright: </a:t>
            </a:r>
            <a:r>
              <a:rPr sz="950">
                <a:solidFill>
                  <a:srgbClr val="64748B"/>
                </a:solidFill>
              </a:rPr>
              <a:t>Cross-browser end-to-end automated testing across real Chromium &amp; WebKit</a:t>
            </a:r>
          </a:p>
        </p:txBody>
      </p:sp>
      <p:pic>
        <p:nvPicPr>
          <p:cNvPr id="5" name="Picture 4" descr="research_reference_map_179061052975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600200"/>
            <a:ext cx="5029200" cy="44805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